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F7CB1B9-6B5A-58BF-2676-4535F4265C95}">
          <p14:sldIdLst>
            <p14:sldId id="273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30E48-7611-4A58-AFD0-14AB0DEA39FC}" v="122" dt="2026-10-09T03:54:15.277"/>
    <p1510:client id="{96259606-D1DA-43B7-9348-037D309580DE}" v="4" dt="2026-10-09T03:38:48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CDC25-5D10-4A1E-ACF8-820BEC3135A6}" type="datetimeFigureOut"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C4324-78BF-4765-A27E-72C33D6777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23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moving over a network can be seen, changed or blocked by others. Security attacks are classified by which goal they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threat is potential, an attack is an actual attempt, and risk measures how much we should worry: how likely it is times how damaging it would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CIA triad is the core of security. Authentication proves who you are, and non-repudiation prevents a sender from denying a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Passive attacks only watch, so the defence is prevention such as encryption. Active attacks change or block traffic, so the defence is detection and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ITU-T X.800 defines security services that counter attacks. Each service is provided by mechanisms such as encryption, digital signatures and access control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management is a cycle. After controls are applied, the remaining risk is reviewed. Organizations can accept it, avoid the activity, transfer it by insurance, or mitigate it with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plain hash did not stop tampering because the attacker can recompute it. A keyed HMAC did. A nonce stopped replay because each message number can only be used once. Encryption stopped eavesdropping.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defences lower risk because each control blocks a different class of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2504-6979-5B4A-B0F9-EC8A1BC16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319C1-6135-0FBD-9C3C-2ECA4EB66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6A208-91B2-3C46-B551-1BA09459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E6A68-ED38-5F8A-DFEF-0626337BF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DD66B-46CE-8F87-78E5-AD87A0B5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5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1B61BA-AE98-4026-418C-2E4651DFC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20" y="309717"/>
            <a:ext cx="8649929" cy="4513007"/>
          </a:xfr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0ABBF-21C4-891A-F872-2C88BC73AD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99" y="184906"/>
            <a:ext cx="6542138" cy="10997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B0A139-12ED-5D3F-91E3-DCDA3557918C}"/>
              </a:ext>
            </a:extLst>
          </p:cNvPr>
          <p:cNvSpPr txBox="1"/>
          <p:nvPr/>
        </p:nvSpPr>
        <p:spPr>
          <a:xfrm>
            <a:off x="249437" y="2678092"/>
            <a:ext cx="84138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893"/>
              </a:spcBef>
            </a:pPr>
            <a:r>
              <a:rPr lang="en-US" sz="1800" b="1" spc="-8">
                <a:latin typeface="Times New Roman"/>
                <a:cs typeface="Times New Roman"/>
              </a:rPr>
              <a:t>CSA5117 – CRYPTOGRAPHY AND NETWORK SECURITY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B753B-69BD-60B9-75AF-985B73192930}"/>
              </a:ext>
            </a:extLst>
          </p:cNvPr>
          <p:cNvSpPr txBox="1"/>
          <p:nvPr/>
        </p:nvSpPr>
        <p:spPr>
          <a:xfrm>
            <a:off x="6112850" y="3797328"/>
            <a:ext cx="533217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latin typeface="Times New Roman"/>
                <a:cs typeface="Times New Roman"/>
              </a:rPr>
              <a:t>PRESENTED  BY </a:t>
            </a:r>
          </a:p>
          <a:p>
            <a:pPr algn="l"/>
            <a:r>
              <a:rPr lang="en-US" sz="1800" b="1" dirty="0">
                <a:latin typeface="Times New Roman"/>
                <a:cs typeface="Times New Roman"/>
              </a:rPr>
              <a:t>HEMANTH R (192521327)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945D2-4F1D-E530-A053-C3CEAAD890D8}"/>
              </a:ext>
            </a:extLst>
          </p:cNvPr>
          <p:cNvSpPr txBox="1"/>
          <p:nvPr/>
        </p:nvSpPr>
        <p:spPr>
          <a:xfrm>
            <a:off x="988507" y="1777845"/>
            <a:ext cx="7166987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/>
                <a:ea typeface="Cambria"/>
                <a:cs typeface="Times New Roman"/>
              </a:rPr>
              <a:t>SECURITY ATTACKS, THREATS, </a:t>
            </a:r>
            <a:r>
              <a:rPr lang="en-US" sz="2000" b="1">
                <a:latin typeface="Times New Roman"/>
                <a:ea typeface="Cambria"/>
                <a:cs typeface="Times New Roman"/>
              </a:rPr>
              <a:t>RISKS AND</a:t>
            </a:r>
            <a:r>
              <a:rPr lang="en-US" sz="2000" b="1" dirty="0">
                <a:latin typeface="Times New Roman"/>
                <a:ea typeface="Cambria"/>
                <a:cs typeface="Times New Roman"/>
              </a:rPr>
              <a:t> THEIR IMPACT ON SECURITY GOALS</a:t>
            </a:r>
            <a:endParaRPr lang="en-US" sz="2000" dirty="0">
              <a:latin typeface="Times New Roman"/>
              <a:ea typeface="Cambria"/>
              <a:cs typeface="Times New Roman"/>
            </a:endParaRPr>
          </a:p>
          <a:p>
            <a:pPr algn="ctr"/>
            <a:endParaRPr lang="en-US" sz="2000" b="1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8D839-3C60-1BE7-684B-2BFD65B96198}"/>
              </a:ext>
            </a:extLst>
          </p:cNvPr>
          <p:cNvSpPr txBox="1"/>
          <p:nvPr/>
        </p:nvSpPr>
        <p:spPr>
          <a:xfrm>
            <a:off x="-118241" y="3800147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Times New Roman"/>
                <a:ea typeface="Calibri"/>
                <a:cs typeface="Times New Roman"/>
              </a:rPr>
              <a:t>CO1 ASSESSMENT TOOL – 3 </a:t>
            </a:r>
          </a:p>
          <a:p>
            <a:pPr algn="ctr"/>
            <a:r>
              <a:rPr lang="en-US" b="1">
                <a:latin typeface="Times New Roman"/>
                <a:ea typeface="Calibri"/>
                <a:cs typeface="Times New Roman"/>
              </a:rPr>
              <a:t>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46116401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16422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5389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 under threat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828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travels across untrusted networks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423160"/>
            <a:ext cx="804672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" y="27395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55117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goals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2926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damages at least one goal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62" y="383682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64845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focus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4023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Attacks, threats, risks and their impact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Threat, Attack and Risk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1463040" y="14173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66" y="1622146"/>
            <a:ext cx="321869" cy="3218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danger that could cause harm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066" y="1622146"/>
            <a:ext cx="321869" cy="3218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attempt to exploit a weakness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6949440" y="14173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266" y="1622146"/>
            <a:ext cx="321869" cy="3218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350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of loss and how severe it is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 =  Likelihood  ×  Impact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Goals (CIA Triad)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1463040" y="1417320"/>
            <a:ext cx="731520" cy="7315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66" y="1622146"/>
            <a:ext cx="321869" cy="3218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 can read data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066" y="1622146"/>
            <a:ext cx="321869" cy="3218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altered in transit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6949440" y="1417320"/>
            <a:ext cx="731520" cy="7315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266" y="1622146"/>
            <a:ext cx="321869" cy="3218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350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stay reachable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Authentication and Non-repudiation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vs Active Attacks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384048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822960" y="1463040"/>
            <a:ext cx="731520" cy="7315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1667866"/>
            <a:ext cx="321869" cy="3218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only, hard to detect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analysis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754880" y="1234440"/>
            <a:ext cx="384048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5029200" y="14630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026" y="166786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4360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or disrupt, easy to detect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28346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Masquerade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Services (X.800)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-bar"/>
          <p:cNvSpPr/>
          <p:nvPr/>
        </p:nvSpPr>
        <p:spPr>
          <a:xfrm>
            <a:off x="548640" y="1234440"/>
            <a:ext cx="73152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who is communicating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3444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-bar"/>
          <p:cNvSpPr/>
          <p:nvPr/>
        </p:nvSpPr>
        <p:spPr>
          <a:xfrm>
            <a:off x="3291840" y="1234440"/>
            <a:ext cx="73152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who can use a resource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23444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-bar"/>
          <p:cNvSpPr/>
          <p:nvPr/>
        </p:nvSpPr>
        <p:spPr>
          <a:xfrm>
            <a:off x="6035040" y="1234440"/>
            <a:ext cx="73152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data secret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278892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ccent-bar"/>
          <p:cNvSpPr/>
          <p:nvPr/>
        </p:nvSpPr>
        <p:spPr>
          <a:xfrm>
            <a:off x="548640" y="2788920"/>
            <a:ext cx="73152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any change to data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91840" y="278892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ccent-bar"/>
          <p:cNvSpPr/>
          <p:nvPr/>
        </p:nvSpPr>
        <p:spPr>
          <a:xfrm>
            <a:off x="3291840" y="2788920"/>
            <a:ext cx="73152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61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Non-repudiation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cannot deny sending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6035040" y="278892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ccent-bar"/>
          <p:cNvSpPr/>
          <p:nvPr/>
        </p:nvSpPr>
        <p:spPr>
          <a:xfrm>
            <a:off x="6035040" y="2788920"/>
            <a:ext cx="73152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works when needed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Process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17373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-badge"/>
          <p:cNvSpPr/>
          <p:nvPr/>
        </p:nvSpPr>
        <p:spPr>
          <a:xfrm>
            <a:off x="109728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assets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protected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2651760" y="1234440"/>
            <a:ext cx="17373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ber-badge"/>
          <p:cNvSpPr/>
          <p:nvPr/>
        </p:nvSpPr>
        <p:spPr>
          <a:xfrm>
            <a:off x="320040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threats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or what can harm them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card"/>
          <p:cNvSpPr/>
          <p:nvPr/>
        </p:nvSpPr>
        <p:spPr>
          <a:xfrm>
            <a:off x="4754880" y="1234440"/>
            <a:ext cx="17373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ber-badge"/>
          <p:cNvSpPr/>
          <p:nvPr/>
        </p:nvSpPr>
        <p:spPr>
          <a:xfrm>
            <a:off x="530352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the risk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× impact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card"/>
          <p:cNvSpPr/>
          <p:nvPr/>
        </p:nvSpPr>
        <p:spPr>
          <a:xfrm>
            <a:off x="6858000" y="1234440"/>
            <a:ext cx="17373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ber-badge"/>
          <p:cNvSpPr/>
          <p:nvPr/>
        </p:nvSpPr>
        <p:spPr>
          <a:xfrm>
            <a:off x="740664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controls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risk to acceptable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Responses:  Accept  |  Avoid  |  Transfer  |  Mitigate</a:t>
            </a:r>
            <a:endParaRPr lang="en-US" sz="2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Analysis</a:t>
            </a:r>
            <a:endParaRPr lang="en-US" sz="3000" dirty="0"/>
          </a:p>
        </p:txBody>
      </p:sp>
      <p:graphicFrame>
        <p:nvGraphicFramePr>
          <p:cNvPr id="9" name="resul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377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defense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4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defense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Eavesdropping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readable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Encrypted: unreadable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Altered message accepted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check failed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twice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copy 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succeeded: 3 of 3 without defense, 0 of 3 with defense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-badge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45389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 hits a goal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28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availability or authentication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423160"/>
            <a:ext cx="804672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-badge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5117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Passive: prevent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26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leave no trace, so encryption is key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-badge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64845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Active: detect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23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 and nonces catch tampering and replay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</p:txBody>
      </p:sp>
      <p:sp>
        <p:nvSpPr>
          <p:cNvPr id="4" name="icon-circle"/>
          <p:cNvSpPr/>
          <p:nvPr/>
        </p:nvSpPr>
        <p:spPr>
          <a:xfrm>
            <a:off x="7589520" y="457200"/>
            <a:ext cx="822960" cy="82296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949" y="687629"/>
            <a:ext cx="362102" cy="362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pherTheme">
  <a:themeElements>
    <a:clrScheme name="CipherTheme">
      <a:dk1>
        <a:srgbClr val="12263A"/>
      </a:dk1>
      <a:lt1>
        <a:srgbClr val="FFFFFF"/>
      </a:lt1>
      <a:dk2>
        <a:srgbClr val="1C7C7D"/>
      </a:dk2>
      <a:lt2>
        <a:srgbClr val="F4F8F9"/>
      </a:lt2>
      <a:accent1>
        <a:srgbClr val="1C7C7D"/>
      </a:accent1>
      <a:accent2>
        <a:srgbClr val="F2A541"/>
      </a:accent2>
      <a:accent3>
        <a:srgbClr val="12263A"/>
      </a:accent3>
      <a:accent4>
        <a:srgbClr val="EAF2F4"/>
      </a:accent4>
      <a:accent5>
        <a:srgbClr val="5B6B7A"/>
      </a:accent5>
      <a:accent6>
        <a:srgbClr val="D1495B"/>
      </a:accent6>
      <a:hlink>
        <a:srgbClr val="1C7C7D"/>
      </a:hlink>
      <a:folHlink>
        <a:srgbClr val="5B6B7A"/>
      </a:folHlink>
    </a:clrScheme>
    <a:fontScheme name="CipherThe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CipherTheme</vt:lpstr>
      <vt:lpstr>PowerPoint Presentation</vt:lpstr>
      <vt:lpstr>Introduction</vt:lpstr>
      <vt:lpstr>Threat, Attack and Risk</vt:lpstr>
      <vt:lpstr>Security Goals (CIA Triad)</vt:lpstr>
      <vt:lpstr>Passive vs Active Attacks</vt:lpstr>
      <vt:lpstr>Security Services (X.800)</vt:lpstr>
      <vt:lpstr>Risk Management Process</vt:lpstr>
      <vt:lpstr>Results and Analysis</vt:lpstr>
      <vt:lpstr>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Substitution vs Transposition: Which Provides Better Security?</dc:title>
  <dc:subject>PptxGenJS Presentation</dc:subject>
  <dc:creator>PptxGenJS</dc:creator>
  <cp:lastModifiedBy>PptxGenJS</cp:lastModifiedBy>
  <cp:revision>33</cp:revision>
  <dcterms:created xsi:type="dcterms:W3CDTF">2026-10-09T03:37:15Z</dcterms:created>
  <dcterms:modified xsi:type="dcterms:W3CDTF">2026-10-09T03:54:30Z</dcterms:modified>
</cp:coreProperties>
</file>